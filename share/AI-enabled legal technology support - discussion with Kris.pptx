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ee4f74b8624ae8" /><Relationship Type="http://schemas.openxmlformats.org/officeDocument/2006/relationships/extended-properties" Target="/docProps/app.xml" Id="R54bbc345efb148bf" /><Relationship Type="http://schemas.openxmlformats.org/officeDocument/2006/relationships/officeDocument" Target="/ppt/presentation.xml" Id="Reab6463f71f648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1a557131f74337"/>
  </p:sldMasterIdLst>
  <p:notesMasterIdLst>
    <p:notesMasterId xmlns:r="http://schemas.openxmlformats.org/officeDocument/2006/relationships" r:id="R543030eaa3f64f8f"/>
  </p:notesMasterIdLst>
  <p:sldIdLst>
    <p:sldId xmlns:r="http://schemas.openxmlformats.org/officeDocument/2006/relationships" id="256" r:id="R3fea20e4ee1340d2"/>
    <p:sldId xmlns:r="http://schemas.openxmlformats.org/officeDocument/2006/relationships" id="257" r:id="R359a684a51e84278"/>
    <p:sldId xmlns:r="http://schemas.openxmlformats.org/officeDocument/2006/relationships" id="258" r:id="R2e10ee6e43b14ae8"/>
    <p:sldId xmlns:r="http://schemas.openxmlformats.org/officeDocument/2006/relationships" id="259" r:id="R9a7172daa7be4f54"/>
    <p:sldId xmlns:r="http://schemas.openxmlformats.org/officeDocument/2006/relationships" id="260" r:id="R99b49fb1fd4e47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1a83eb21384f67" /><Relationship Type="http://schemas.openxmlformats.org/officeDocument/2006/relationships/slideMaster" Target="/ppt/slideMasters/slideMaster1.xml" Id="Rdf1a557131f74337" /><Relationship Type="http://schemas.openxmlformats.org/officeDocument/2006/relationships/notesMaster" Target="/ppt/notesMasters/notesMaster1.xml" Id="R543030eaa3f64f8f" /><Relationship Type="http://schemas.openxmlformats.org/officeDocument/2006/relationships/presProps" Target="/ppt/presProps.xml" Id="R5f991cd9df4d4370" /><Relationship Type="http://schemas.openxmlformats.org/officeDocument/2006/relationships/tableStyles" Target="/ppt/tableStyles.xml" Id="R358275c048794024" /><Relationship Type="http://schemas.openxmlformats.org/officeDocument/2006/relationships/slide" Target="/ppt/slides/slide1.xml" Id="R3fea20e4ee1340d2" /><Relationship Type="http://schemas.openxmlformats.org/officeDocument/2006/relationships/slide" Target="/ppt/slides/slide2.xml" Id="R359a684a51e84278" /><Relationship Type="http://schemas.openxmlformats.org/officeDocument/2006/relationships/slide" Target="/ppt/slides/slide3.xml" Id="R2e10ee6e43b14ae8" /><Relationship Type="http://schemas.openxmlformats.org/officeDocument/2006/relationships/slide" Target="/ppt/slides/slide4.xml" Id="R9a7172daa7be4f54" /><Relationship Type="http://schemas.openxmlformats.org/officeDocument/2006/relationships/slide" Target="/ppt/slides/slide5.xml" Id="R99b49fb1fd4e47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459ed6b18548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72d2f26ca54cd6" /><Relationship Type="http://schemas.openxmlformats.org/officeDocument/2006/relationships/notesMaster" Target="/ppt/notesMasters/notesMaster1.xml" Id="R60b7ac6e90a54c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dc34daef214db5" /><Relationship Type="http://schemas.openxmlformats.org/officeDocument/2006/relationships/notesMaster" Target="/ppt/notesMasters/notesMaster1.xml" Id="Rb13b1d00ab9b46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aae84efe5b4fbd" /><Relationship Type="http://schemas.openxmlformats.org/officeDocument/2006/relationships/notesMaster" Target="/ppt/notesMasters/notesMaster1.xml" Id="R5385502da91342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510a4cd74d42bf" /><Relationship Type="http://schemas.openxmlformats.org/officeDocument/2006/relationships/notesMaster" Target="/ppt/notesMasters/notesMaster1.xml" Id="R36bb3c7968ad4f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771050a88f4c7c" /><Relationship Type="http://schemas.openxmlformats.org/officeDocument/2006/relationships/notesMaster" Target="/ppt/notesMasters/notesMaster1.xml" Id="Re08b41df141c4a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stating that the demonstration is synthetic and is designed to show an operating approach, not ABL's current architecture or realised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POC: README.md</a:t>
            </a:r>
          </a:p>
          <a:p xmlns:a="http://schemas.openxmlformats.org/drawingml/2006/main">
            <a:r>
              <a:t>- Internal synthetic POC: DEMO_GUIDE.md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at the business level. The issue is not whether a model can produce text; it is whether the service produces a reliable, owned outcome without creating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POC: ARCHITECTURE.md</a:t>
            </a:r>
          </a:p>
          <a:p xmlns:a="http://schemas.openxmlformats.org/drawingml/2006/main">
            <a:r>
              <a:t>- Internal synthetic POC: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one scenario to make the pattern concrete: an approved matter is unavailable. The system checks the authoritative evidence, prepares the bounded next step and waits for named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POC: app/demo.py</a:t>
            </a:r>
          </a:p>
          <a:p xmlns:a="http://schemas.openxmlformats.org/drawingml/2006/main">
            <a:r>
              <a:t>- Internal synthetic POC: governance/support-improvement-contract.md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that passing synthetic tests proves the controls operate in the prototype. It does not prove a business benefit at ABL. That distinction is a strength, not a weakness.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POC: tests/test_flow.py</a:t>
            </a:r>
          </a:p>
          <a:p xmlns:a="http://schemas.openxmlformats.org/drawingml/2006/main">
            <a:r>
              <a:t>- Internal synthetic POC: governance/change-policy.md</a:t>
            </a:r>
          </a:p>
          <a:p xmlns:a="http://schemas.openxmlformats.org/drawingml/2006/main">
            <a:r>
              <a:t>- Internal synthetic POC: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discussion, not asking for approval. Offer the private technical repository only if Kris wants a deeper review by a technical colleague.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POC: governance/harvey-operating-contract.md</a:t>
            </a:r>
          </a:p>
          <a:p xmlns:a="http://schemas.openxmlformats.org/drawingml/2006/main">
            <a:r>
              <a:t>- Internal synthetic POC: PRIVATE_SHARING.md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0e51ef2c747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c47a7c53ad4564" /><Relationship Type="http://schemas.openxmlformats.org/officeDocument/2006/relationships/slideLayout" Target="/ppt/slideLayouts/slideLayout1.xml" Id="R2650dd61cf6c44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50dd61cf6c44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3b37c7555499b" /><Relationship Type="http://schemas.openxmlformats.org/officeDocument/2006/relationships/notesSlide" Target="/ppt/notesSlides/notesSlide1.xml" Id="Rf37a27c8d3e84e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e3f32a70c48ec" /><Relationship Type="http://schemas.openxmlformats.org/officeDocument/2006/relationships/notesSlide" Target="/ppt/notesSlides/notesSlide2.xml" Id="R069df7fd149e4b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4511fcae24f2c" /><Relationship Type="http://schemas.openxmlformats.org/officeDocument/2006/relationships/notesSlide" Target="/ppt/notesSlides/notesSlide3.xml" Id="R9b90ef691a9b49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5efda5e3a4f24" /><Relationship Type="http://schemas.openxmlformats.org/officeDocument/2006/relationships/notesSlide" Target="/ppt/notesSlides/notesSlide4.xml" Id="R82ad6edb04904e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76f208c534c06" /><Relationship Type="http://schemas.openxmlformats.org/officeDocument/2006/relationships/notesSlide" Target="/ppt/notesSlides/notesSlide5.xml" Id="R56a39453b86d4c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E7F12-5528-468E-A78D-992FFFFD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E2416-7A07-4615-8740-2CF8464E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DISCUSSION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04173-5359-4244-BF3E-CBD034E7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AI-enabled legal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technology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1A5CB-50AB-4391-9DEE-6E25D31A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570"/>
                </a:solidFill>
              </a:defRPr>
            </a:pPr>
            <a:r>
              <a:rPr sz="1875" b="0">
                <a:solidFill>
                  <a:srgbClr val="5D6570"/>
                </a:solidFill>
              </a:rPr>
              <a:t>A synthetic proof of concept for safer support, reusable practice and measurable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66FCD-5AD3-4F51-9B6A-411AFA40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81125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EEEA2-5AA3-46A4-BD66-53F1F050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AI prepares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0A599-F0D3-488F-BF56-AD574507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19375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Rules constrain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4BED8-93BF-49EB-A4AF-36D63785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People decide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C0EF4-DC40-48A8-A2C5-F6AC4E90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570"/>
                </a:solidFill>
              </a:defRPr>
            </a:pPr>
            <a:r>
              <a:rPr sz="1125" b="0">
                <a:solidFill>
                  <a:srgbClr val="5D6570"/>
                </a:solidFill>
              </a:rPr>
              <a:t>Prepared by Jacques Steenkamp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63528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EE582-2D8E-4FB6-A31B-A773AF24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THE 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AA1EE-D0AB-495C-8349-A7177F6C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opportunity is reliable outcomes—not more AI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B01BB-D9AC-47CB-8883-E6736113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411D8-267E-4371-A49A-743881D0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570"/>
                </a:solidFill>
              </a:defRPr>
            </a:pPr>
            <a:r>
              <a:rPr sz="975" b="1">
                <a:solidFill>
                  <a:srgbClr val="5D657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57D18-521C-485E-96D3-A90A20EF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Legal professionals need to work now.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5346E-2667-48C0-83E0-9900F5D9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570"/>
                </a:solidFill>
              </a:defRPr>
            </a:pPr>
            <a:r>
              <a:rPr sz="1650" b="0">
                <a:solidFill>
                  <a:srgbClr val="5D6570"/>
                </a:solidFill>
              </a:rPr>
              <a:t>Support teams must resolve issues without bypassing access, master-data, privacy or professional-accountability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38B5C-34BB-48D8-B411-5A860B3F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1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4B904-7692-47FC-B1F1-3204CC61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Faster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9CDAB-D8B7-416B-9156-FE7DA7A8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0"/>
                </a:solidFill>
              </a:defRPr>
            </a:pPr>
            <a:r>
              <a:rPr sz="1350" b="0">
                <a:solidFill>
                  <a:srgbClr val="5D6570"/>
                </a:solidFill>
              </a:rPr>
              <a:t>Less chasing and clearer ownership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E810A-52A0-4118-8645-EB05B2AE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521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92305-EAF7-4A30-A703-AABB0CF9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Safer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CD426-3596-46FD-8ADE-1EFBBA14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0"/>
                </a:solidFill>
              </a:defRPr>
            </a:pPr>
            <a:r>
              <a:rPr sz="1350" b="0">
                <a:solidFill>
                  <a:srgbClr val="5D6570"/>
                </a:solidFill>
              </a:rPr>
              <a:t>Evidence and controls before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05034-98A2-44E9-92C4-93FD1114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521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8139F-DDD7-41A0-8B5A-E15F78B6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Proven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5415D-4903-4C4D-884B-20B4B978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386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0"/>
                </a:solidFill>
              </a:defRPr>
            </a:pPr>
            <a:r>
              <a:rPr sz="1350" b="0">
                <a:solidFill>
                  <a:srgbClr val="5D6570"/>
                </a:solidFill>
              </a:rPr>
              <a:t>Quality and full cost measured together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69FE5-F453-461E-8507-3575A169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The prototype asks one practical question: can AI help prepare a better next action while authority stays with the accountable person?</a:t>
            </a:r>
          </a:p>
        </p:txBody>
      </p:sp>
    </p:spTree>
    <p:extLst>
      <p:ext uri="{BB962C8B-B14F-4D97-AF65-F5344CB8AC3E}">
        <p14:creationId xmlns:p14="http://schemas.microsoft.com/office/powerpoint/2010/main" val="222395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CCB69C-2911-486F-AB0D-F0308161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THE OPERATING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45B62-0C27-4570-89A9-557E59E9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AI prepares a proposal; controls and people determine the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2DDCE-8C41-4231-9EEB-440B358D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AD2BC-CCA1-4398-A091-CC6414A9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570"/>
                </a:solidFill>
              </a:defRPr>
            </a:pPr>
            <a:r>
              <a:rPr sz="975" b="1">
                <a:solidFill>
                  <a:srgbClr val="5D6570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8E245-0BF7-422B-8103-69EFD9AD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051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2DD92-62F9-43D6-AF24-0CE11D0F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051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5910C-2E83-41C9-86F1-71A3F109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051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FB00D-9432-491B-B142-6344E3E2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051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D282B-0A77-4907-800D-6822B314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752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18A07-2CB1-4603-97DA-1323EF50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A1118-A8B6-4733-B0E2-A70CED1D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9CF74-B9C2-4EAA-AB6B-DE4E482F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0"/>
                </a:solidFill>
              </a:defRPr>
            </a:pPr>
            <a:r>
              <a:rPr sz="1275" b="0">
                <a:solidFill>
                  <a:srgbClr val="5D6570"/>
                </a:solidFill>
              </a:rPr>
              <a:t>Define the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2E090-5B64-40AD-9D03-1FA2C189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09800"/>
            <a:ext cx="1752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F80F1-DE32-4BD7-862C-1B7EDDF2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622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CF776-FD1E-4DAA-A2BD-3509ECD4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146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Ground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725A5-F6EF-4114-8F51-89324890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71825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0"/>
                </a:solidFill>
              </a:defRPr>
            </a:pPr>
            <a:r>
              <a:rPr sz="1275" b="0">
                <a:solidFill>
                  <a:srgbClr val="5D6570"/>
                </a:solidFill>
              </a:rPr>
              <a:t>Use permitted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D057C-EBE4-47DA-84AD-3D91F420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752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BF604-E3A8-4B85-BA1F-396EAF10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51F86-9DD4-4301-8B12-C0339CC7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146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Propose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B20275-9CEA-47F1-B63F-A20ED8B3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71825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0"/>
                </a:solidFill>
              </a:defRPr>
            </a:pPr>
            <a:r>
              <a:rPr sz="1275" b="0">
                <a:solidFill>
                  <a:srgbClr val="5D6570"/>
                </a:solidFill>
              </a:rPr>
              <a:t>Prepare a next step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C3492-4CA9-4FF6-BBC5-0E83A6BD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1752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E5E9B3-4E08-4A8D-BCC0-8122218A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622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57ADF-EF30-47D0-9985-BDBB946D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146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Constrain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8A343C-10BA-445B-B6B6-44A2A9D6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71825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0"/>
                </a:solidFill>
              </a:defRPr>
            </a:pPr>
            <a:r>
              <a:rPr sz="1275" b="0">
                <a:solidFill>
                  <a:srgbClr val="5D6570"/>
                </a:solidFill>
              </a:rPr>
              <a:t>Apply rules and owners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A8DC07-25E8-46D3-A2DB-D723C4C6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1752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3C7378-C725-4773-9B03-22403507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622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69C8C9-AF5B-4A85-8462-44FB66E8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146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Measure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50BF21-5757-4A47-8D61-0860B4C4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71825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0"/>
                </a:solidFill>
              </a:defRPr>
            </a:pPr>
            <a:r>
              <a:rPr sz="1275" b="0">
                <a:solidFill>
                  <a:srgbClr val="5D6570"/>
                </a:solidFill>
              </a:rPr>
              <a:t>Review outcome and cost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2575C6-54F5-4A73-BAB1-098732C0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Implemented boundaries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32B99-9F5E-49A8-BF67-6C7D82F2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570"/>
                </a:solidFill>
              </a:defRPr>
            </a:pPr>
            <a:r>
              <a:rPr sz="1575" b="0">
                <a:solidFill>
                  <a:srgbClr val="5D6570"/>
                </a:solidFill>
              </a:rPr>
              <a:t>No autonomous matter creation · no inferred access · no blind retry · no client content for general IT · named approval before action</a:t>
            </a:r>
          </a:p>
        </p:txBody>
      </p:sp>
    </p:spTree>
    <p:extLst>
      <p:ext uri="{BB962C8B-B14F-4D97-AF65-F5344CB8AC3E}">
        <p14:creationId xmlns:p14="http://schemas.microsoft.com/office/powerpoint/2010/main" val="1361929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D2026-40B8-4F72-BEF4-961B00E3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WHAT THE PROTOTYPE PROVES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BAEB2-F1C0-4DF6-B691-9960B140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demonstration produces evidence, not promised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0F798-07F8-46C7-8D39-DA0BCD01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EE682-36CF-430B-9F38-10302126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570"/>
                </a:solidFill>
              </a:defRPr>
            </a:pPr>
            <a:r>
              <a:rPr sz="975" b="1">
                <a:solidFill>
                  <a:srgbClr val="5D6570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712FD-C8D5-463C-A1AB-76AC5111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Working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4132D-8B16-45DC-A6CC-AF4D798A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C1CA9-ECA2-4D30-BD7A-3E39A938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Six normal and failure scenarios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87606-CBC6-464E-90A9-9D08F5F6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63E63-8C8D-46CA-AA76-E49B10B4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Safe replay and timeout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07F64-BC47-40A1-AD85-F3814445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953D1-CDE4-4C51-AEB5-C2C59458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Information-barrier and reference-data stops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C2AF2-2D05-40F1-B0E2-EA41AFEC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B0F46-3A43-4D1B-9E3A-613E858F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Versioned prompt regression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58867-1EBB-4E28-BECF-E803B525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1217D-E869-45DE-9F71-A5966B5B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Named activation, rollback and retirement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68C4E-8B26-481F-8BB9-4B34E9DE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3149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4CF0E-E58B-4E90-AD10-7395D898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What remains a hypothesis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1C9F5-1049-428B-93AA-401CFD13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09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FA445-8C68-4DA1-9A9F-E712D37B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570"/>
                </a:solidFill>
              </a:defRPr>
            </a:pPr>
            <a:r>
              <a:rPr sz="1425" b="0">
                <a:solidFill>
                  <a:srgbClr val="5D6570"/>
                </a:solidFill>
              </a:rPr>
              <a:t>Actual ABL service baselines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FC413-232B-40FC-BC71-3934BB07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65A02-D21B-45B4-8AB4-30F05512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990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570"/>
                </a:solidFill>
              </a:defRPr>
            </a:pPr>
            <a:r>
              <a:rPr sz="1425" b="0">
                <a:solidFill>
                  <a:srgbClr val="5D6570"/>
                </a:solidFill>
              </a:rPr>
              <a:t>Representative quality improvement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EC3F1-BCBE-4192-ADED-DC87A4E7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48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0EDFC-5C5A-4314-9773-6D6562C4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570"/>
                </a:solidFill>
              </a:defRPr>
            </a:pPr>
            <a:r>
              <a:rPr sz="1425" b="0">
                <a:solidFill>
                  <a:srgbClr val="5D6570"/>
                </a:solidFill>
              </a:rPr>
              <a:t>Useful adoption by professionals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91BAE-B0ED-42E2-8473-983A8EAB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46D15-FA13-418B-8E1F-D1799F00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4810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570"/>
                </a:solidFill>
              </a:defRPr>
            </a:pPr>
            <a:r>
              <a:rPr sz="1425" b="0">
                <a:solidFill>
                  <a:srgbClr val="5D6570"/>
                </a:solidFill>
              </a:rPr>
              <a:t>Full operating and review cost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5862A-8DB2-4AFC-B678-FD0D8B87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156C1-AF55-464D-A0E7-44F3B283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6720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570"/>
                </a:solidFill>
              </a:defRPr>
            </a:pPr>
            <a:r>
              <a:rPr sz="1425" b="0">
                <a:solidFill>
                  <a:srgbClr val="5D6570"/>
                </a:solidFill>
              </a:rPr>
              <a:t>Realised capacity, margin or avoided spend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FF6EC-560B-49B1-94F3-F140F5D2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The release 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A29A92-1DFB-41BB-BA35-AEE5F337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387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Continue only when accepted quality, safety, useful adoption and full-cost evidence justify it—and stop when they do not.</a:t>
            </a:r>
          </a:p>
        </p:txBody>
      </p:sp>
    </p:spTree>
    <p:extLst>
      <p:ext uri="{BB962C8B-B14F-4D97-AF65-F5344CB8AC3E}">
        <p14:creationId xmlns:p14="http://schemas.microsoft.com/office/powerpoint/2010/main" val="1550825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BCBB7-F575-4F15-A2DA-FA2629F8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 PROPORTIONATE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F85E2-29F4-4CDD-B69E-991CE1EC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Start with one bounded service problem and earn the right to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295E6-E723-4C83-812E-DC0141DB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CC4BC-2D23-4167-86F8-7E157E1A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570"/>
                </a:solidFill>
              </a:defRPr>
            </a:pPr>
            <a:r>
              <a:rPr sz="975" b="1">
                <a:solidFill>
                  <a:srgbClr val="5D6570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8EBF8-0443-467A-911C-B6F700C0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105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92D7A-1FDC-4AA1-A0B9-A6661D95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1 ·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9AC53-57CF-40F3-8A70-B3B55C3F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Choose one recurring support need. Measure handling time, rework, hand-offs, quality and current cost.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A978C-15FF-4A15-85B3-A22E4B3A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47850"/>
            <a:ext cx="3105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64515-AFD9-4A1C-861E-C8CD5F9D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2 ·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436EC-6E97-4F32-BB0A-B0789529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09850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Use approved synthetic or bounded data, named owners, human review, clear stops and a limited evaluation 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35EFC-C65C-491B-B79E-09635C29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105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D2550-EBA9-4FD7-8A97-B5F38390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3 · Decide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9D7C6-F22F-475A-AACD-F730EB69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9850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Compare quality, safety, adoption and full cost. Keep, change, replace, retire or stop.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0EC97-49FE-4834-81D3-1E975AF7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D6570"/>
                </a:solidFill>
              </a:defRPr>
            </a:pPr>
            <a:r>
              <a:rPr sz="1500" b="1">
                <a:solidFill>
                  <a:srgbClr val="5D6570"/>
                </a:solidFill>
              </a:rPr>
              <a:t>No decision requested today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0B6BF-BFB2-473B-ABDE-956AA0B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The purpose is to show how I would connect AI capability to reliable service, disciplined governance and evidence-led investment.</a:t>
            </a:r>
          </a:p>
        </p:txBody>
      </p:sp>
    </p:spTree>
    <p:extLst>
      <p:ext uri="{BB962C8B-B14F-4D97-AF65-F5344CB8AC3E}">
        <p14:creationId xmlns:p14="http://schemas.microsoft.com/office/powerpoint/2010/main" val="1770144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2026-09-01T08:15:36.3490000Z</dcterms:created>
  <dcterms:modified xsi:type="dcterms:W3CDTF">2026-09-01T08:15:36.3490000Z</dcterms:modified>
</coreProperties>
</file>