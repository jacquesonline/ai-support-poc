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cb9fd8c3424551" /><Relationship Type="http://schemas.openxmlformats.org/officeDocument/2006/relationships/extended-properties" Target="/docProps/app.xml" Id="R3bb3e36ec07d495f" /><Relationship Type="http://schemas.openxmlformats.org/officeDocument/2006/relationships/officeDocument" Target="/ppt/presentation.xml" Id="R0d9c49ff42e54a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f278b379c7403b"/>
  </p:sldMasterIdLst>
  <p:notesMasterIdLst>
    <p:notesMasterId xmlns:r="http://schemas.openxmlformats.org/officeDocument/2006/relationships" r:id="Rb111a1ee04ba4b33"/>
  </p:notesMasterIdLst>
  <p:sldIdLst>
    <p:sldId xmlns:r="http://schemas.openxmlformats.org/officeDocument/2006/relationships" id="256" r:id="R243120b1329e47bb"/>
    <p:sldId xmlns:r="http://schemas.openxmlformats.org/officeDocument/2006/relationships" id="257" r:id="R240d23f008cb439b"/>
    <p:sldId xmlns:r="http://schemas.openxmlformats.org/officeDocument/2006/relationships" id="258" r:id="R0e01df9dd61b4d07"/>
    <p:sldId xmlns:r="http://schemas.openxmlformats.org/officeDocument/2006/relationships" id="259" r:id="R2234852447064b64"/>
    <p:sldId xmlns:r="http://schemas.openxmlformats.org/officeDocument/2006/relationships" id="260" r:id="R8c4cfe0977044e02"/>
    <p:sldId xmlns:r="http://schemas.openxmlformats.org/officeDocument/2006/relationships" id="261" r:id="R60114dde5b0e49d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1c7c4a9f554b0f" /><Relationship Type="http://schemas.openxmlformats.org/officeDocument/2006/relationships/slideMaster" Target="/ppt/slideMasters/slideMaster1.xml" Id="Ra2f278b379c7403b" /><Relationship Type="http://schemas.openxmlformats.org/officeDocument/2006/relationships/notesMaster" Target="/ppt/notesMasters/notesMaster1.xml" Id="Rb111a1ee04ba4b33" /><Relationship Type="http://schemas.openxmlformats.org/officeDocument/2006/relationships/presProps" Target="/ppt/presProps.xml" Id="R095f580eaf544fb6" /><Relationship Type="http://schemas.openxmlformats.org/officeDocument/2006/relationships/tableStyles" Target="/ppt/tableStyles.xml" Id="R5b8f2f45f0064f0f" /><Relationship Type="http://schemas.openxmlformats.org/officeDocument/2006/relationships/slide" Target="/ppt/slides/slide1.xml" Id="R243120b1329e47bb" /><Relationship Type="http://schemas.openxmlformats.org/officeDocument/2006/relationships/slide" Target="/ppt/slides/slide2.xml" Id="R240d23f008cb439b" /><Relationship Type="http://schemas.openxmlformats.org/officeDocument/2006/relationships/slide" Target="/ppt/slides/slide3.xml" Id="R0e01df9dd61b4d07" /><Relationship Type="http://schemas.openxmlformats.org/officeDocument/2006/relationships/slide" Target="/ppt/slides/slide4.xml" Id="R2234852447064b64" /><Relationship Type="http://schemas.openxmlformats.org/officeDocument/2006/relationships/slide" Target="/ppt/slides/slide5.xml" Id="R8c4cfe0977044e02" /><Relationship Type="http://schemas.openxmlformats.org/officeDocument/2006/relationships/slide" Target="/ppt/slides/slide6.xml" Id="R60114dde5b0e49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46cc7f88ee4a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d9e25a47804002" /><Relationship Type="http://schemas.openxmlformats.org/officeDocument/2006/relationships/notesMaster" Target="/ppt/notesMasters/notesMaster1.xml" Id="R2823e43100ba4d8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96ad6bd27341cf" /><Relationship Type="http://schemas.openxmlformats.org/officeDocument/2006/relationships/notesMaster" Target="/ppt/notesMasters/notesMaster1.xml" Id="Re9c05a6442cf4a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d61dab87de40d2" /><Relationship Type="http://schemas.openxmlformats.org/officeDocument/2006/relationships/notesMaster" Target="/ppt/notesMasters/notesMaster1.xml" Id="Rc7566aa293fd44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0abae4c23d343d8" /><Relationship Type="http://schemas.openxmlformats.org/officeDocument/2006/relationships/notesMaster" Target="/ppt/notesMasters/notesMaster1.xml" Id="R445d34aa76c246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c315830a5a4f9c" /><Relationship Type="http://schemas.openxmlformats.org/officeDocument/2006/relationships/notesMaster" Target="/ppt/notesMasters/notesMaster1.xml" Id="R3fd5e715cb284e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6f18be7c8947d6" /><Relationship Type="http://schemas.openxmlformats.org/officeDocument/2006/relationships/notesMaster" Target="/ppt/notesMasters/notesMaster1.xml" Id="Rc430699169a04b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problem, not the technology. This is a five-minute business conversation supported by a live local demonstration.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synthetic POC: README.md</a:t>
            </a:r>
          </a:p>
          <a:p xmlns:a="http://schemas.openxmlformats.org/drawingml/2006/main">
            <a:r>
              <a:t>- Internal synthetic POC: DEMO_GUIDE.md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practical tension: restoring service quickly while preserving the controls that legal work depends 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synthetic POC: README.md</a:t>
            </a:r>
          </a:p>
          <a:p xmlns:a="http://schemas.openxmlformats.org/drawingml/2006/main">
            <a:r>
              <a:t>- Internal synthetic POC: ARCHITECTURE.md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application locally and share the screen. Use the approved-matter scenario first, then one or two failure paths. Keep code and repository navigation out of the main experience.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synthetic POC: DEMO_GUIDE.md</a:t>
            </a:r>
          </a:p>
          <a:p xmlns:a="http://schemas.openxmlformats.org/drawingml/2006/main">
            <a:r>
              <a:t>- Internal synthetic POC: tests/test_flow.py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centre of the narrative. The POC attempts to show a support operating model: useful preparation, executable boundaries and evidence-led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synthetic POC: governance/change-policy.md</a:t>
            </a:r>
          </a:p>
          <a:p xmlns:a="http://schemas.openxmlformats.org/drawingml/2006/main">
            <a:r>
              <a:t>- Internal synthetic POC: prompts/support-oversight.md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describe synthetic results as realised ABL outcomes. The prototype establishes that the controls and evidence pattern can be demonstrated; representative value remains a hypothesis.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synthetic POC: README.md</a:t>
            </a:r>
          </a:p>
          <a:p xmlns:a="http://schemas.openxmlformats.org/drawingml/2006/main">
            <a:r>
              <a:t>- Internal synthetic POC: governance/support-improvement-contract.md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Finish the live demonstration here. Offer a private recording and the one-page brief afterward. Share repository access only if Kris or a technical colleague wants to inspect the implementation.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synthetic POC: PRIVATE_SHARING.md</a:t>
            </a:r>
          </a:p>
          <a:p xmlns:a="http://schemas.openxmlformats.org/drawingml/2006/main">
            <a:r>
              <a:t>- Internal synthetic POC: DEMO_GUIDE.md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9506c639b9489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8717d89b7e342fa" /><Relationship Type="http://schemas.openxmlformats.org/officeDocument/2006/relationships/slideLayout" Target="/ppt/slideLayouts/slideLayout1.xml" Id="Rcaef9b4c8286442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ef9b4c8286442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c8f5ea78c438b" /><Relationship Type="http://schemas.openxmlformats.org/officeDocument/2006/relationships/notesSlide" Target="/ppt/notesSlides/notesSlide1.xml" Id="R2436d0f1242841e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c56f66ae047b5" /><Relationship Type="http://schemas.openxmlformats.org/officeDocument/2006/relationships/notesSlide" Target="/ppt/notesSlides/notesSlide2.xml" Id="Rb8f153a6b53d41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9e239c0af411d" /><Relationship Type="http://schemas.openxmlformats.org/officeDocument/2006/relationships/notesSlide" Target="/ppt/notesSlides/notesSlide3.xml" Id="R86dc8a21d5814f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7eebb4988b42d7" /><Relationship Type="http://schemas.openxmlformats.org/officeDocument/2006/relationships/notesSlide" Target="/ppt/notesSlides/notesSlide4.xml" Id="Ra3a30df530aa49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110758b494452" /><Relationship Type="http://schemas.openxmlformats.org/officeDocument/2006/relationships/notesSlide" Target="/ppt/notesSlides/notesSlide5.xml" Id="Rda342971f03e43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b13a0a72949b4" /><Relationship Type="http://schemas.openxmlformats.org/officeDocument/2006/relationships/notesSlide" Target="/ppt/notesSlides/notesSlide6.xml" Id="R95e707120638483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0FEF19-2416-4A32-A962-CCF807AC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D67504-982A-4CC8-8D69-3EF5BFF9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382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PRIVATE DISCUSSION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CAE40E-2964-4A85-9EF3-40C172D2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78105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7212B"/>
                </a:solidFill>
              </a:defRPr>
            </a:pPr>
            <a:r>
              <a:rPr sz="4200" b="1">
                <a:solidFill>
                  <a:srgbClr val="17212B"/>
                </a:solidFill>
              </a:rPr>
              <a:t>From a support request</a:t>
            </a:r>
          </a:p>
          <a:p xmlns:a="http://schemas.openxmlformats.org/drawingml/2006/main">
            <a:pPr algn="l">
              <a:defRPr sz="4200" b="1">
                <a:solidFill>
                  <a:srgbClr val="17212B"/>
                </a:solidFill>
              </a:defRPr>
            </a:pPr>
            <a:r>
              <a:rPr sz="4200" b="1">
                <a:solidFill>
                  <a:srgbClr val="17212B"/>
                </a:solidFill>
              </a:rPr>
              <a:t>to a safe, owned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DBCA58-C97C-4933-A96F-A76D2FAB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7524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2606D"/>
                </a:solidFill>
              </a:defRPr>
            </a:pPr>
            <a:r>
              <a:rPr sz="1875" b="0">
                <a:solidFill>
                  <a:srgbClr val="52606D"/>
                </a:solidFill>
              </a:rPr>
              <a:t>A small, synthetic experiment in how AI could help legal-technology support without taking authority away from people.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1F85E9-039B-448B-9A7B-94C26768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AI prepares  ·  controls constrain  ·  people decide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28CDD1-9CEF-4184-9531-0503F5FE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Jacques Steenkamp  | 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8195326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A9F50D-505D-4A3A-AAFB-77CFBD0F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WHY I BUILT 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40715F-8A96-4342-85DE-B4C0F3CE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</a:defRPr>
            </a:pPr>
            <a:r>
              <a:rPr sz="2400" b="1">
                <a:solidFill>
                  <a:srgbClr val="17212B"/>
                </a:solidFill>
              </a:rPr>
              <a:t>A support answer is only useful when it leads to the right outcome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89AD8-32D2-400F-B3F6-9E6A3707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0A042-179D-4466-80D4-DF222E7D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6D"/>
                </a:solidFill>
              </a:defRPr>
            </a:pPr>
            <a:r>
              <a:rPr sz="900" b="1">
                <a:solidFill>
                  <a:srgbClr val="52606D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08851-40B2-4618-859E-7EA82B9D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212B"/>
                </a:solidFill>
              </a:defRPr>
            </a:pPr>
            <a:r>
              <a:rPr sz="2250" b="1">
                <a:solidFill>
                  <a:srgbClr val="17212B"/>
                </a:solidFill>
              </a:rPr>
              <a:t>A lawyer or staff member is blocked.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75814C-4609-4D3F-89A4-0FE95F4B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4953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06D"/>
                </a:solidFill>
              </a:defRPr>
            </a:pPr>
            <a:r>
              <a:rPr sz="1575" b="0">
                <a:solidFill>
                  <a:srgbClr val="52606D"/>
                </a:solidFill>
              </a:rPr>
              <a:t>They need a clear next step quickly. The support team also needs to protect access decisions, reference data, client information and the integrity of the underlying transaction.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60C72B-0368-40C9-B992-C6FB111D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4953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57191E-B64A-4B14-8CC3-71F63FBF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624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9AA"/>
                </a:solidFill>
              </a:defRPr>
            </a:pPr>
            <a:r>
              <a:rPr sz="1275" b="1">
                <a:solidFill>
                  <a:srgbClr val="1769AA"/>
                </a:solidFill>
              </a:rPr>
              <a:t>The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E58A3B-3B5D-43E5-B19A-0A0E175B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672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</a:defRPr>
            </a:pPr>
            <a:r>
              <a:rPr sz="1575" b="1">
                <a:solidFill>
                  <a:srgbClr val="17212B"/>
                </a:solidFill>
              </a:rPr>
              <a:t>Can AI reduce the effort of getting to an owned action—without becoming the decision-maker?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80BFF1-E702-4B3F-A35C-9B4A9EC5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85950"/>
            <a:ext cx="57150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F3833-38BB-46AD-AE43-6A2EA50D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431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212B"/>
                </a:solidFill>
              </a:defRPr>
            </a:pPr>
            <a:r>
              <a:rPr sz="2100" b="1">
                <a:solidFill>
                  <a:srgbClr val="17212B"/>
                </a:solidFill>
              </a:rPr>
              <a:t>Fast is not enough.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2EC2CB-9ED9-4850-A024-D5751E59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4795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06D"/>
                </a:solidFill>
              </a:defRPr>
            </a:pPr>
            <a:r>
              <a:rPr sz="1650" b="0">
                <a:solidFill>
                  <a:srgbClr val="52606D"/>
                </a:solidFill>
              </a:rPr>
              <a:t>The response must be grounded in permitted evidence.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0C3447-23C1-4693-A37F-EEC77B211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2900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06D"/>
                </a:solidFill>
              </a:defRPr>
            </a:pPr>
            <a:r>
              <a:rPr sz="1650" b="0">
                <a:solidFill>
                  <a:srgbClr val="52606D"/>
                </a:solidFill>
              </a:rPr>
              <a:t>The boundary must be visible when the workflow should stop.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5CD1E8-378D-4E1D-AE28-0FB9F6C2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10050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06D"/>
                </a:solidFill>
              </a:defRPr>
            </a:pPr>
            <a:r>
              <a:rPr sz="1650" b="0">
                <a:solidFill>
                  <a:srgbClr val="52606D"/>
                </a:solidFill>
              </a:rPr>
              <a:t>A named person must remain accountable for the action.</a:t>
            </a:r>
          </a:p>
        </p:txBody>
      </p:sp>
    </p:spTree>
    <p:extLst>
      <p:ext uri="{BB962C8B-B14F-4D97-AF65-F5344CB8AC3E}">
        <p14:creationId xmlns:p14="http://schemas.microsoft.com/office/powerpoint/2010/main" val="592536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CB8631-4AFB-4798-95A4-15506B2B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WHAT KRIS WILL SEE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39F5E8-4E68-43D8-ABE8-EDB1FB06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</a:defRPr>
            </a:pPr>
            <a:r>
              <a:rPr sz="2400" b="1">
                <a:solidFill>
                  <a:srgbClr val="17212B"/>
                </a:solidFill>
              </a:rPr>
              <a:t>One request, followed all the way to an accountable outcome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EAB7FC-EBC5-44EA-8DC2-52869C8A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84A6E-D129-428D-ACA3-FBABA9BC3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6D"/>
                </a:solidFill>
              </a:defRPr>
            </a:pPr>
            <a:r>
              <a:rPr sz="900" b="1">
                <a:solidFill>
                  <a:srgbClr val="52606D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720EC-EF0B-4B56-9960-61714CCF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47975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70949-2AE2-4BDD-81E0-49AA6777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47975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E95F1D-E36B-43C8-9E5D-841F2024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47975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2FED66-A95D-414E-A535-B40DF091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47975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52337F-2DA7-4768-BBB8-67954C093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16383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28130-EA5B-4CB7-A289-C6707078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25D962-1C37-4BBC-BD7E-642775F5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314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</a:defRPr>
            </a:pPr>
            <a:r>
              <a:rPr sz="1575" b="1">
                <a:solidFill>
                  <a:srgbClr val="17212B"/>
                </a:solidFill>
              </a:rPr>
              <a:t>A person is blocked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B2AAA7-C277-4E40-860C-8DF8ABFD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14700"/>
            <a:ext cx="1314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A synthetic support request arrives.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5916E4-536E-4FE5-B931-8003C757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43125"/>
            <a:ext cx="16383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14E6E5-2FF3-4CEB-A33E-E2D8BF74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286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F0D774-2127-45AB-A66E-41FBA339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47950"/>
            <a:ext cx="1314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</a:defRPr>
            </a:pPr>
            <a:r>
              <a:rPr sz="1575" b="1">
                <a:solidFill>
                  <a:srgbClr val="17212B"/>
                </a:solidFill>
              </a:rPr>
              <a:t>Evidence is checked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6F8D8D-0836-4B75-8F9F-719630F8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314700"/>
            <a:ext cx="1314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Only approved facts and references are used.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7E806E-11C6-4F1A-B177-62DC4000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143125"/>
            <a:ext cx="16383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05BD88-3F47-4D19-B659-0E81F89A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86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C8A75F-5DC4-49FF-ABC1-6F2E1104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47950"/>
            <a:ext cx="1314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</a:defRPr>
            </a:pPr>
            <a:r>
              <a:rPr sz="1575" b="1">
                <a:solidFill>
                  <a:srgbClr val="17212B"/>
                </a:solidFill>
              </a:rPr>
              <a:t>AI prepares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F493F6-C2D2-45B5-95EA-A010ACFD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314700"/>
            <a:ext cx="1314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A structured next action is proposed.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ACA2AE-0F65-4848-B161-9475797D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43125"/>
            <a:ext cx="16383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A126C2-D271-48A3-9047-C450027F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86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228EB6-E5FB-42C4-BF85-8A93A2BA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647950"/>
            <a:ext cx="1314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</a:defRPr>
            </a:pPr>
            <a:r>
              <a:rPr sz="1575" b="1">
                <a:solidFill>
                  <a:srgbClr val="17212B"/>
                </a:solidFill>
              </a:rPr>
              <a:t>Controls decide the path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2598E5-9F0F-475D-A98B-E9820E31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14700"/>
            <a:ext cx="1314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Proceed, stop or route to the right owner.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47325C-B55E-4A40-AFB7-26E0544B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143125"/>
            <a:ext cx="16383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5F200C-B9C1-4D59-862F-3CE38655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286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AED25D-C7F9-4015-970C-32DE88C2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47950"/>
            <a:ext cx="13144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</a:defRPr>
            </a:pPr>
            <a:r>
              <a:rPr sz="1575" b="1">
                <a:solidFill>
                  <a:srgbClr val="17212B"/>
                </a:solidFill>
              </a:rPr>
              <a:t>A person owns the result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304BFF-6D06-43C5-B8F1-0C5BC38D5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314700"/>
            <a:ext cx="13144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Approval and evidence remain visible.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B2A3E1-846E-4610-B3E9-078EE6B08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2B"/>
                </a:solidFill>
              </a:defRPr>
            </a:pPr>
            <a:r>
              <a:rPr sz="1875" b="1">
                <a:solidFill>
                  <a:srgbClr val="17212B"/>
                </a:solidFill>
              </a:rPr>
              <a:t>Then I will deliberately show where it stops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9650D3-CACB-4A75-AC6E-096E2CA8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2606D"/>
                </a:solidFill>
              </a:defRPr>
            </a:pPr>
            <a:r>
              <a:rPr sz="1575" b="0">
                <a:solidFill>
                  <a:srgbClr val="52606D"/>
                </a:solidFill>
              </a:rPr>
              <a:t>A duplicate risk, an unmapped office and a restricted matter make the safeguards tangible. The system does not invent authority or push through a persuasive answer.</a:t>
            </a:r>
          </a:p>
        </p:txBody>
      </p:sp>
    </p:spTree>
    <p:extLst>
      <p:ext uri="{BB962C8B-B14F-4D97-AF65-F5344CB8AC3E}">
        <p14:creationId xmlns:p14="http://schemas.microsoft.com/office/powerpoint/2010/main" val="20707165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6AF2D6-656B-419D-BB79-45012D826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WHAT THE POC IS TESTING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343A43-7049-4BC8-9D15-0180106D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</a:defRPr>
            </a:pPr>
            <a:r>
              <a:rPr sz="2400" b="1">
                <a:solidFill>
                  <a:srgbClr val="17212B"/>
                </a:solidFill>
              </a:rPr>
              <a:t>Three things must be true before this becomes more than a demonstration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660E66-2A01-495D-A110-C816C8BED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034727-3CBC-45F0-989A-955A35C6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6D"/>
                </a:solidFill>
              </a:defRPr>
            </a:pPr>
            <a:r>
              <a:rPr sz="900" b="1">
                <a:solidFill>
                  <a:srgbClr val="52606D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FF46C5-68FF-44DA-BCFB-F289E13A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69AA"/>
                </a:solidFill>
              </a:defRPr>
            </a:pPr>
            <a:r>
              <a:rPr sz="2250" b="1">
                <a:solidFill>
                  <a:srgbClr val="1769AA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0EB350-2367-48E6-A1D7-D113A370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050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</a:defRPr>
            </a:pPr>
            <a:r>
              <a:rPr sz="2025" b="1">
                <a:solidFill>
                  <a:srgbClr val="17212B"/>
                </a:solidFill>
              </a:rPr>
              <a:t>Better preparation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A2D811-62D3-42B7-A3BE-52526F1F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003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D"/>
                </a:solidFill>
              </a:defRPr>
            </a:pPr>
            <a:r>
              <a:rPr sz="1500" b="0">
                <a:solidFill>
                  <a:srgbClr val="52606D"/>
                </a:solidFill>
              </a:rPr>
              <a:t>The support person receives a clearer, evidence-backed next action—not simply more 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44E80C-AE44-4A14-B76E-4BCFC756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457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A3D457-CFCD-4B43-BB21-FE1666195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69AA"/>
                </a:solidFill>
              </a:defRPr>
            </a:pPr>
            <a:r>
              <a:rPr sz="2250" b="1">
                <a:solidFill>
                  <a:srgbClr val="1769AA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36666A-BD79-4815-9E6A-B6A3AB297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90925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</a:defRPr>
            </a:pPr>
            <a:r>
              <a:rPr sz="2025" b="1">
                <a:solidFill>
                  <a:srgbClr val="17212B"/>
                </a:solidFill>
              </a:rPr>
              <a:t>Controls in the 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FA9BFD-2161-4190-BFA1-020C26C4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86225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D"/>
                </a:solidFill>
              </a:defRPr>
            </a:pPr>
            <a:r>
              <a:rPr sz="1500" b="0">
                <a:solidFill>
                  <a:srgbClr val="52606D"/>
                </a:solidFill>
              </a:rPr>
              <a:t>Access, data and retry rules change what the system can do, rather than sitting in a policy document.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A6EA03-7770-4126-A77D-CEC8BFE3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05000"/>
            <a:ext cx="57150" cy="2914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9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42320D-8E7E-4E68-9672-094AB5984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52625"/>
            <a:ext cx="66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69AA"/>
                </a:solidFill>
              </a:defRPr>
            </a:pPr>
            <a:r>
              <a:rPr sz="2250" b="1">
                <a:solidFill>
                  <a:srgbClr val="1769AA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8DDD37-732A-452C-88E4-B2DCABA34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9050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212B"/>
                </a:solidFill>
              </a:defRPr>
            </a:pPr>
            <a:r>
              <a:rPr sz="2025" b="1">
                <a:solidFill>
                  <a:srgbClr val="17212B"/>
                </a:solidFill>
              </a:rPr>
              <a:t>Learning that can be governed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4F229D-CA17-4470-8FFE-82B195FC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00300"/>
            <a:ext cx="3714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D"/>
                </a:solidFill>
              </a:defRPr>
            </a:pPr>
            <a:r>
              <a:rPr sz="1500" b="0">
                <a:solidFill>
                  <a:srgbClr val="52606D"/>
                </a:solidFill>
              </a:rPr>
              <a:t>Prompts and support practices are versioned, tested and reviewed against quality, safety and full operating cost.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7EF669-8D4C-4AAC-8E9B-C2F1E92B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571875"/>
            <a:ext cx="43624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72B738-4A1D-470B-A4B7-4D2BAE18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70522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69AA"/>
                </a:solidFill>
              </a:defRPr>
            </a:pPr>
            <a:r>
              <a:rPr sz="1275" b="1">
                <a:solidFill>
                  <a:srgbClr val="1769AA"/>
                </a:solidFill>
              </a:rPr>
              <a:t>The aim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566D71-A5CE-4C93-954D-C063952D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029075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2B"/>
                </a:solidFill>
              </a:defRPr>
            </a:pPr>
            <a:r>
              <a:rPr sz="1575" b="1">
                <a:solidFill>
                  <a:srgbClr val="17212B"/>
                </a:solidFill>
              </a:rPr>
              <a:t>A repeatable way to test value responsibly—not a claim that AI has already delivered it.</a:t>
            </a:r>
          </a:p>
        </p:txBody>
      </p:sp>
    </p:spTree>
    <p:extLst>
      <p:ext uri="{BB962C8B-B14F-4D97-AF65-F5344CB8AC3E}">
        <p14:creationId xmlns:p14="http://schemas.microsoft.com/office/powerpoint/2010/main" val="2636321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D57EE5-0271-49D0-A03A-C80FBF66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WHAT WE CAN CONCLUDE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14A1F-972A-4237-B1A9-73FA7142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</a:defRPr>
            </a:pPr>
            <a:r>
              <a:rPr sz="2400" b="1">
                <a:solidFill>
                  <a:srgbClr val="17212B"/>
                </a:solidFill>
              </a:rPr>
              <a:t>The prototype proves its mechanics; a pilot would test its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9119C4-3FF3-4C65-815D-569BE5A4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E90CE-B4D1-4FF7-9967-44C358FB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6D"/>
                </a:solidFill>
              </a:defRPr>
            </a:pPr>
            <a:r>
              <a:rPr sz="900" b="1">
                <a:solidFill>
                  <a:srgbClr val="52606D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994982-9ADE-42F3-8995-56B26646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E6B57"/>
                </a:solidFill>
              </a:defRPr>
            </a:pPr>
            <a:r>
              <a:rPr sz="1800" b="1">
                <a:solidFill>
                  <a:srgbClr val="2E6B57"/>
                </a:solidFill>
              </a:rPr>
              <a:t>Visible today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1B5BB4-77D2-4A90-943B-4C6767B5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6B57"/>
                </a:solidFill>
              </a:defRPr>
            </a:pPr>
            <a:r>
              <a:rPr sz="1500" b="1">
                <a:solidFill>
                  <a:srgbClr val="2E6B57"/>
                </a:solidFill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67FF60-6BC8-4BE8-9FD6-9E811DBD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Normal and failure scenarios behave as designed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48926B-8581-4B51-9ADE-CCF04317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670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6B57"/>
                </a:solidFill>
              </a:defRPr>
            </a:pPr>
            <a:r>
              <a:rPr sz="1500" b="1">
                <a:solidFill>
                  <a:srgbClr val="2E6B57"/>
                </a:solidFill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6AFF2B-0263-4F3A-B88C-4DC7E245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2892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Duplicate and timeout recovery are bounded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DE6887-990E-4993-A7C8-44E94F4A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6B57"/>
                </a:solidFill>
              </a:defRPr>
            </a:pPr>
            <a:r>
              <a:rPr sz="1500" b="1">
                <a:solidFill>
                  <a:srgbClr val="2E6B57"/>
                </a:solidFill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4580CB-8451-45A1-BCC3-D8502CBA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Access and reference-data decisions stop safely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24727-7B48-42DA-939B-AC88A745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766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6B57"/>
                </a:solidFill>
              </a:defRPr>
            </a:pPr>
            <a:r>
              <a:rPr sz="1500" b="1">
                <a:solidFill>
                  <a:srgbClr val="2E6B57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EC6988-673C-482A-A748-B830C7FC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3857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Prompt changes are versioned and tested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B54930-8287-49D1-AA5D-E852EFD3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E6B57"/>
                </a:solidFill>
              </a:defRPr>
            </a:pPr>
            <a:r>
              <a:rPr sz="1500" b="1">
                <a:solidFill>
                  <a:srgbClr val="2E6B57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4BC802-EB20-40FF-9000-FBD2B6AF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Model use and estimated cost are visible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D5958-7350-4425-8E8E-15098F2D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09750"/>
            <a:ext cx="190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EDD16D-39FA-4587-A993-149FA6EC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859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36A19"/>
                </a:solidFill>
              </a:defRPr>
            </a:pPr>
            <a:r>
              <a:rPr sz="1800" b="1">
                <a:solidFill>
                  <a:srgbClr val="B36A19"/>
                </a:solidFill>
              </a:rPr>
              <a:t>Still to be learned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433FF6-07D1-4E16-A31A-64861589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62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36A19"/>
                </a:solidFill>
              </a:defRPr>
            </a:pPr>
            <a:r>
              <a:rPr sz="1500" b="1">
                <a:solidFill>
                  <a:srgbClr val="B36A19"/>
                </a:solidFill>
              </a:rPr>
              <a:t>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F16EBE-B9A9-4272-B539-A8DE0DF2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241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Whether representative support work improves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72D3F2-F3FE-4AD1-986F-7B479A183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670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36A19"/>
                </a:solidFill>
              </a:defRPr>
            </a:pPr>
            <a:r>
              <a:rPr sz="1500" b="1">
                <a:solidFill>
                  <a:srgbClr val="B36A19"/>
                </a:solidFill>
              </a:rPr>
              <a:t>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18C5F3-0598-475F-8044-CD91D6136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2892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Whether people adopt the approach usefully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9FD182-4068-4CC0-A286-721842B3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718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36A19"/>
                </a:solidFill>
              </a:defRPr>
            </a:pPr>
            <a:r>
              <a:rPr sz="1500" b="1">
                <a:solidFill>
                  <a:srgbClr val="B36A19"/>
                </a:solidFill>
              </a:rPr>
              <a:t>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09D0CA-185F-4706-B9D1-B3E628DD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337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The effect on handling time, rework and quality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D3A952-BC78-4C6E-9646-43E12E6B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8766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36A19"/>
                </a:solidFill>
              </a:defRPr>
            </a:pPr>
            <a:r>
              <a:rPr sz="1500" b="1">
                <a:solidFill>
                  <a:srgbClr val="B36A19"/>
                </a:solidFill>
              </a:rPr>
              <a:t>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692919-E64A-4B80-8C27-E3A00258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38575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The full operating and review cost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6C93F3-D945-4D10-B889-175D6537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81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36A19"/>
                </a:solidFill>
              </a:defRPr>
            </a:pPr>
            <a:r>
              <a:rPr sz="1500" b="1">
                <a:solidFill>
                  <a:srgbClr val="B36A19"/>
                </a:solidFill>
              </a:rPr>
              <a:t>—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35D582-8440-4BB5-A8FD-0B48F67C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434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12B"/>
                </a:solidFill>
              </a:defRPr>
            </a:pPr>
            <a:r>
              <a:rPr sz="1425" b="0">
                <a:solidFill>
                  <a:srgbClr val="17212B"/>
                </a:solidFill>
              </a:rPr>
              <a:t>Whether the value justifies continuing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F354EB-A3A1-49A2-8CBB-C3BD34A4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69AA"/>
                </a:solidFill>
              </a:defRPr>
            </a:pPr>
            <a:r>
              <a:rPr sz="1650" b="1">
                <a:solidFill>
                  <a:srgbClr val="1769AA"/>
                </a:solidFill>
              </a:rPr>
              <a:t>That distinction is deliberate: the next decision should be based on evidence from a bounded trial, not enthusiasm for the prototype.</a:t>
            </a:r>
          </a:p>
        </p:txBody>
      </p:sp>
    </p:spTree>
    <p:extLst>
      <p:ext uri="{BB962C8B-B14F-4D97-AF65-F5344CB8AC3E}">
        <p14:creationId xmlns:p14="http://schemas.microsoft.com/office/powerpoint/2010/main" val="10591842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9DD117-B7EB-461E-88DC-21A44D79D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69AA"/>
                </a:solidFill>
              </a:defRPr>
            </a:pPr>
            <a:r>
              <a:rPr sz="1050" b="1">
                <a:solidFill>
                  <a:srgbClr val="1769AA"/>
                </a:solidFill>
              </a:rPr>
              <a:t>WHERE THE CONVERSATION GOES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A45720-AFAF-4DA2-9A64-1A86C231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81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7212B"/>
                </a:solidFill>
              </a:defRPr>
            </a:pPr>
            <a:r>
              <a:rPr sz="2400" b="1">
                <a:solidFill>
                  <a:srgbClr val="17212B"/>
                </a:solidFill>
              </a:rPr>
              <a:t>If the problem is relevant, define one controlled pilot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C73AC9-6CD7-48E1-92B0-F1A268552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CCC4B0-1D90-4C2E-B45F-C3635B0D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3341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2606D"/>
                </a:solidFill>
              </a:defRPr>
            </a:pPr>
            <a:r>
              <a:rPr sz="900" b="1">
                <a:solidFill>
                  <a:srgbClr val="52606D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F7462D-4E2C-46F1-9A16-CCF193D4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2B"/>
                </a:solidFill>
              </a:defRPr>
            </a:pPr>
            <a:r>
              <a:rPr sz="1950" b="1">
                <a:solidFill>
                  <a:srgbClr val="17212B"/>
                </a:solidFill>
              </a:rPr>
              <a:t>The useful discussion with Kris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93A899-9747-452E-88E1-29B1F7C9D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F12538-FD6B-444C-94AC-36587216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43150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D"/>
                </a:solidFill>
              </a:defRPr>
            </a:pPr>
            <a:r>
              <a:rPr sz="1500" b="0">
                <a:solidFill>
                  <a:srgbClr val="52606D"/>
                </a:solidFill>
              </a:rPr>
              <a:t>Where does support currently lose the most time or quality?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F000D3-27C8-42F6-BF1B-3D0DB334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B6EC11-7D3A-4C25-BEA4-9542EAA5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D"/>
                </a:solidFill>
              </a:defRPr>
            </a:pPr>
            <a:r>
              <a:rPr sz="1500" b="0">
                <a:solidFill>
                  <a:srgbClr val="52606D"/>
                </a:solidFill>
              </a:rPr>
              <a:t>Which decisions must remain outside the AI workflow?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9F0DD6-7865-457D-8143-24EEF830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FA8613-4809-41FD-AD09-B213E287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24250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D"/>
                </a:solidFill>
              </a:defRPr>
            </a:pPr>
            <a:r>
              <a:rPr sz="1500" b="0">
                <a:solidFill>
                  <a:srgbClr val="52606D"/>
                </a:solidFill>
              </a:rPr>
              <a:t>What evidence would justify continuing—or stopping?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7EAC21-0DAF-4396-8F9A-AA3EADAD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529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9AA"/>
                </a:solidFill>
              </a:defRPr>
            </a:pPr>
            <a:r>
              <a:rPr sz="1350" b="1">
                <a:solidFill>
                  <a:srgbClr val="1769AA"/>
                </a:solidFill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4A16A9-C2F0-4BDD-AC84-1693BE25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14800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2606D"/>
                </a:solidFill>
              </a:defRPr>
            </a:pPr>
            <a:r>
              <a:rPr sz="1500" b="0">
                <a:solidFill>
                  <a:srgbClr val="52606D"/>
                </a:solidFill>
              </a:rPr>
              <a:t>Who would own the service, risk and value decisions?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96CD8D-E60B-4FC5-A636-C74F6A5D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9339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CF3556-C36A-44BE-8270-6B5288FB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028825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How I will share 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A59748-B6B6-41BC-80A5-8EAE07A0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5622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69AA"/>
                </a:solidFill>
              </a:defRPr>
            </a:pPr>
            <a:r>
              <a:rPr sz="1500" b="1">
                <a:solidFill>
                  <a:srgbClr val="1769AA"/>
                </a:solidFill>
              </a:rPr>
              <a:t>Live from my laptop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FD5101-95B7-4639-A60F-376E299E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67025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Run locally, share my screen and tell this five-minute business story.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D4CDC-C33F-467B-B585-4583A019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95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69AA"/>
                </a:solidFill>
              </a:defRPr>
            </a:pPr>
            <a:r>
              <a:rPr sz="1500" b="1">
                <a:solidFill>
                  <a:srgbClr val="1769AA"/>
                </a:solidFill>
              </a:rPr>
              <a:t>Simple private follow-up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AC85CB-B4F1-4644-80BE-B03C9A3D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00475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A short recording link and a one-page summary. The private repository is optional for technical review.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8FA2A2-CE5B-4FF3-B456-E2E2C596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52606D"/>
                </a:solidFill>
              </a:defRPr>
            </a:pPr>
            <a:r>
              <a:rPr sz="1350" b="1">
                <a:solidFill>
                  <a:srgbClr val="52606D"/>
                </a:solidFill>
              </a:rPr>
              <a:t>No approval requested in this discussion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923924-CF10-4951-B8F6-67A552A7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2B"/>
                </a:solidFill>
              </a:defRPr>
            </a:pPr>
            <a:r>
              <a:rPr sz="1725" b="1">
                <a:solidFill>
                  <a:srgbClr val="17212B"/>
                </a:solidFill>
              </a:rPr>
              <a:t>The immediate outcome is clarity on whether there is a real problem worth testing—and the boundaries a pilot would need.</a:t>
            </a:r>
          </a:p>
        </p:txBody>
      </p:sp>
    </p:spTree>
    <p:extLst>
      <p:ext uri="{BB962C8B-B14F-4D97-AF65-F5344CB8AC3E}">
        <p14:creationId xmlns:p14="http://schemas.microsoft.com/office/powerpoint/2010/main" val="20652353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2026-09-01T08:27:55.9210000Z</dcterms:created>
  <dcterms:modified xsi:type="dcterms:W3CDTF">2026-09-01T08:27:55.9210000Z</dcterms:modified>
</coreProperties>
</file>